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9" r:id="rId5"/>
    <p:sldMasterId id="214748369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y="5143500" cx="9144000"/>
  <p:notesSz cx="6858000" cy="9144000"/>
  <p:embeddedFontLst>
    <p:embeddedFont>
      <p:font typeface="DM Sans Medium"/>
      <p:regular r:id="rId23"/>
      <p:bold r:id="rId24"/>
      <p:italic r:id="rId25"/>
      <p:boldItalic r:id="rId26"/>
    </p:embeddedFont>
    <p:embeddedFont>
      <p:font typeface="Merriweather"/>
      <p:regular r:id="rId27"/>
      <p:bold r:id="rId28"/>
      <p:italic r:id="rId29"/>
      <p:boldItalic r:id="rId30"/>
    </p:embeddedFont>
    <p:embeddedFont>
      <p:font typeface="DM Sans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891D946-C5B1-44C4-B7D6-E7FC5FD608D4}">
  <a:tblStyle styleId="{0891D946-C5B1-44C4-B7D6-E7FC5FD608D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font" Target="fonts/DMSansMedium-bold.fntdata"/><Relationship Id="rId23" Type="http://schemas.openxmlformats.org/officeDocument/2006/relationships/font" Target="fonts/DMSansMedium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DMSansMedium-boldItalic.fntdata"/><Relationship Id="rId25" Type="http://schemas.openxmlformats.org/officeDocument/2006/relationships/font" Target="fonts/DMSansMedium-italic.fntdata"/><Relationship Id="rId28" Type="http://schemas.openxmlformats.org/officeDocument/2006/relationships/font" Target="fonts/Merriweather-bold.fntdata"/><Relationship Id="rId27" Type="http://schemas.openxmlformats.org/officeDocument/2006/relationships/font" Target="fonts/Merriweather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Merriweather-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DMSans-regular.fntdata"/><Relationship Id="rId30" Type="http://schemas.openxmlformats.org/officeDocument/2006/relationships/font" Target="fonts/Merriweather-boldItalic.fntdata"/><Relationship Id="rId11" Type="http://schemas.openxmlformats.org/officeDocument/2006/relationships/slide" Target="slides/slide4.xml"/><Relationship Id="rId33" Type="http://schemas.openxmlformats.org/officeDocument/2006/relationships/font" Target="fonts/DMSans-italic.fntdata"/><Relationship Id="rId10" Type="http://schemas.openxmlformats.org/officeDocument/2006/relationships/slide" Target="slides/slide3.xml"/><Relationship Id="rId32" Type="http://schemas.openxmlformats.org/officeDocument/2006/relationships/font" Target="fonts/DMSans-bold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34" Type="http://schemas.openxmlformats.org/officeDocument/2006/relationships/font" Target="fonts/DMSans-boldItalic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commons.wikimedia.org/wiki/File:OECD_logo.svg" TargetMode="External"/><Relationship Id="rId3" Type="http://schemas.openxmlformats.org/officeDocument/2006/relationships/hyperlink" Target="https://www.stmarys-ca.edu/brand-guidelines/visual-identity-toolkit/logo-brand-identity-elements" TargetMode="Externa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4a8cc93af2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4a8cc93af2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https://commons.wikimedia.org/wiki/File:OECD_logo.svg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https://www.stmarys-ca.edu/brand-guidelines/visual-identity-toolkit/logo-brand-identity-elements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4be767c098_1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4be767c098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4be767c098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4be767c098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4be767c098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4be767c09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https://horizondbm.com/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4be767c098_3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4be767c098_3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4be767c098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4be767c098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4be767c098_1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4be767c098_1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4d3674bb1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4d3674bb1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4be767c098_3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4be767c098_3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4d3674bb1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4d3674bb1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4d3674bb1b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4d3674bb1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4d3674bb1b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4d3674bb1b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4bef325303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4bef325303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4d3674bb1b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4d3674bb1b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4bef325303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4bef325303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97" name="Google Shape;9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2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9" name="Google Shape;99;p2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0" name="Google Shape;100;p2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1" name="Google Shape;101;p2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2" name="Google Shape;102;p2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3" name="Google Shape;103;p2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06" name="Google Shape;106;p2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7" name="Google Shape;107;p2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2" name="Google Shape;112;p2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3" name="Google Shape;113;p2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4" name="Google Shape;114;p2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5" name="Google Shape;115;p2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9" name="Google Shape;119;p2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0" name="Google Shape;120;p28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1" name="Google Shape;121;p2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2" name="Google Shape;122;p28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3" name="Google Shape;123;p28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4" name="Google Shape;124;p28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2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8" name="Google Shape;128;p2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9" name="Google Shape;129;p2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0" name="Google Shape;130;p2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1" name="Google Shape;131;p2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32" name="Google Shape;132;p2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3" name="Google Shape;133;p2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4" name="Google Shape;134;p2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5" name="Google Shape;135;p2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38" name="Google Shape;13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9" name="Google Shape;139;p3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2" name="Google Shape;142;p3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3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4" name="Google Shape;144;p3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5" name="Google Shape;145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" name="Google Shape;14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47" name="Google Shape;147;p3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8" name="Google Shape;148;p3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1" name="Google Shape;151;p3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3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3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4" name="Google Shape;154;p3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3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6" name="Google Shape;156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Google Shape;15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58" name="Google Shape;158;p3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9" name="Google Shape;159;p3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3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3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7" name="Google Shape;167;p3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3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3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3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3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2" name="Google Shape;172;p3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73" name="Google Shape;173;p3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3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3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slide" type="title">
  <p:cSld name="TITLE">
    <p:bg>
      <p:bgPr>
        <a:solidFill>
          <a:schemeClr val="dk1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5"/>
          <p:cNvSpPr txBox="1"/>
          <p:nvPr>
            <p:ph idx="1" type="body"/>
          </p:nvPr>
        </p:nvSpPr>
        <p:spPr>
          <a:xfrm>
            <a:off x="196951" y="4737750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8" name="Google Shape;178;p35"/>
          <p:cNvSpPr txBox="1"/>
          <p:nvPr>
            <p:ph type="ctrTitle"/>
          </p:nvPr>
        </p:nvSpPr>
        <p:spPr>
          <a:xfrm>
            <a:off x="196950" y="223825"/>
            <a:ext cx="8011800" cy="18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50"/>
              <a:buNone/>
              <a:defRPr sz="675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9" name="Google Shape;179;p35"/>
          <p:cNvSpPr txBox="1"/>
          <p:nvPr>
            <p:ph idx="2" type="subTitle"/>
          </p:nvPr>
        </p:nvSpPr>
        <p:spPr>
          <a:xfrm>
            <a:off x="196950" y="2171250"/>
            <a:ext cx="3986700" cy="5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50"/>
              <a:buFont typeface="DM Sans Medium"/>
              <a:buNone/>
              <a:defRPr sz="1850"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0" name="Google Shape;180;p35"/>
          <p:cNvSpPr/>
          <p:nvPr>
            <p:ph idx="3" type="pic"/>
          </p:nvPr>
        </p:nvSpPr>
        <p:spPr>
          <a:xfrm>
            <a:off x="4437578" y="2171250"/>
            <a:ext cx="4509600" cy="27756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181" name="Google Shape;181;p35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number" type="secHead">
  <p:cSld name="SECTION_HEADER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6"/>
          <p:cNvSpPr txBox="1"/>
          <p:nvPr>
            <p:ph type="title"/>
          </p:nvPr>
        </p:nvSpPr>
        <p:spPr>
          <a:xfrm>
            <a:off x="511953" y="5885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4" name="Google Shape;184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36"/>
          <p:cNvSpPr txBox="1"/>
          <p:nvPr>
            <p:ph idx="2" type="title"/>
          </p:nvPr>
        </p:nvSpPr>
        <p:spPr>
          <a:xfrm>
            <a:off x="511953" y="14303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6" name="Google Shape;186;p36"/>
          <p:cNvSpPr txBox="1"/>
          <p:nvPr>
            <p:ph idx="3" type="title"/>
          </p:nvPr>
        </p:nvSpPr>
        <p:spPr>
          <a:xfrm>
            <a:off x="511953" y="22721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7" name="Google Shape;187;p36"/>
          <p:cNvSpPr txBox="1"/>
          <p:nvPr>
            <p:ph idx="4" type="title"/>
          </p:nvPr>
        </p:nvSpPr>
        <p:spPr>
          <a:xfrm>
            <a:off x="511953" y="31139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8" name="Google Shape;188;p36"/>
          <p:cNvSpPr txBox="1"/>
          <p:nvPr>
            <p:ph idx="5" type="title"/>
          </p:nvPr>
        </p:nvSpPr>
        <p:spPr>
          <a:xfrm>
            <a:off x="511953" y="39557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9" name="Google Shape;189;p36"/>
          <p:cNvSpPr txBox="1"/>
          <p:nvPr>
            <p:ph idx="1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0" name="Google Shape;190;p36"/>
          <p:cNvSpPr txBox="1"/>
          <p:nvPr>
            <p:ph idx="6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 type="tx">
  <p:cSld name="TITLE_AND_BODY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3" name="Google Shape;193;p37"/>
          <p:cNvSpPr txBox="1"/>
          <p:nvPr>
            <p:ph idx="1" type="subTitle"/>
          </p:nvPr>
        </p:nvSpPr>
        <p:spPr>
          <a:xfrm>
            <a:off x="975300" y="1864050"/>
            <a:ext cx="7193400" cy="141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194" name="Google Shape;194;p37"/>
          <p:cNvSpPr txBox="1"/>
          <p:nvPr>
            <p:ph idx="2" type="body"/>
          </p:nvPr>
        </p:nvSpPr>
        <p:spPr>
          <a:xfrm>
            <a:off x="196951" y="196725"/>
            <a:ext cx="18591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5" name="Google Shape;195;p37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2">
  <p:cSld name="TITLE_AND_BODY_1">
    <p:bg>
      <p:bgPr>
        <a:solidFill>
          <a:schemeClr val="dk1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8" name="Google Shape;198;p38"/>
          <p:cNvSpPr txBox="1"/>
          <p:nvPr>
            <p:ph idx="1" type="subTitle"/>
          </p:nvPr>
        </p:nvSpPr>
        <p:spPr>
          <a:xfrm>
            <a:off x="975300" y="1864050"/>
            <a:ext cx="7193400" cy="141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199" name="Google Shape;199;p38"/>
          <p:cNvSpPr txBox="1"/>
          <p:nvPr>
            <p:ph idx="2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0" name="Google Shape;200;p38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1" type="twoColTx">
  <p:cSld name="TITLE_AND_TWO_COLUMNS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9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203" name="Google Shape;203;p39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4" name="Google Shape;204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5" name="Google Shape;205;p39"/>
          <p:cNvSpPr/>
          <p:nvPr>
            <p:ph idx="2" type="pic"/>
          </p:nvPr>
        </p:nvSpPr>
        <p:spPr>
          <a:xfrm>
            <a:off x="3726325" y="669925"/>
            <a:ext cx="5220900" cy="4276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206" name="Google Shape;206;p39"/>
          <p:cNvSpPr txBox="1"/>
          <p:nvPr>
            <p:ph idx="3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7" name="Google Shape;207;p39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2">
  <p:cSld name="TITLE_AND_TWO_COLUMNS_1">
    <p:bg>
      <p:bgPr>
        <a:solidFill>
          <a:schemeClr val="dk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0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0" name="Google Shape;210;p40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1" name="Google Shape;211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40"/>
          <p:cNvSpPr/>
          <p:nvPr>
            <p:ph idx="2" type="pic"/>
          </p:nvPr>
        </p:nvSpPr>
        <p:spPr>
          <a:xfrm>
            <a:off x="3726325" y="669925"/>
            <a:ext cx="5220900" cy="4276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213" name="Google Shape;213;p40"/>
          <p:cNvSpPr txBox="1"/>
          <p:nvPr>
            <p:ph idx="3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4" name="Google Shape;214;p40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5" name="Google Shape;215;p40"/>
          <p:cNvSpPr txBox="1"/>
          <p:nvPr>
            <p:ph idx="5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chart">
  <p:cSld name="SECTION_TITLE_AND_DESCRIPTION">
    <p:bg>
      <p:bgPr>
        <a:solidFill>
          <a:schemeClr val="lt2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1"/>
          <p:cNvSpPr/>
          <p:nvPr/>
        </p:nvSpPr>
        <p:spPr>
          <a:xfrm>
            <a:off x="4305000" y="-125"/>
            <a:ext cx="4839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8" name="Google Shape;218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9" name="Google Shape;219;p41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0" name="Google Shape;220;p41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1" name="Google Shape;221;p41"/>
          <p:cNvSpPr txBox="1"/>
          <p:nvPr>
            <p:ph idx="2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22" name="Google Shape;222;p41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ppendix">
  <p:cSld name="CAPTION_ONLY">
    <p:bg>
      <p:bgPr>
        <a:solidFill>
          <a:schemeClr val="lt2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5" name="Google Shape;225;p42"/>
          <p:cNvSpPr txBox="1"/>
          <p:nvPr>
            <p:ph idx="1" type="body"/>
          </p:nvPr>
        </p:nvSpPr>
        <p:spPr>
          <a:xfrm>
            <a:off x="203000" y="8914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6" name="Google Shape;226;p42"/>
          <p:cNvSpPr txBox="1"/>
          <p:nvPr>
            <p:ph idx="2" type="body"/>
          </p:nvPr>
        </p:nvSpPr>
        <p:spPr>
          <a:xfrm>
            <a:off x="203000" y="13204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7" name="Google Shape;227;p42"/>
          <p:cNvSpPr txBox="1"/>
          <p:nvPr>
            <p:ph idx="3" type="body"/>
          </p:nvPr>
        </p:nvSpPr>
        <p:spPr>
          <a:xfrm>
            <a:off x="203000" y="15886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8" name="Google Shape;228;p42"/>
          <p:cNvSpPr txBox="1"/>
          <p:nvPr>
            <p:ph idx="4" type="body"/>
          </p:nvPr>
        </p:nvSpPr>
        <p:spPr>
          <a:xfrm>
            <a:off x="203000" y="22065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9" name="Google Shape;229;p42"/>
          <p:cNvSpPr txBox="1"/>
          <p:nvPr>
            <p:ph idx="5" type="body"/>
          </p:nvPr>
        </p:nvSpPr>
        <p:spPr>
          <a:xfrm>
            <a:off x="203000" y="26355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0" name="Google Shape;230;p42"/>
          <p:cNvSpPr txBox="1"/>
          <p:nvPr>
            <p:ph idx="6" type="body"/>
          </p:nvPr>
        </p:nvSpPr>
        <p:spPr>
          <a:xfrm>
            <a:off x="203000" y="29037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1" name="Google Shape;231;p42"/>
          <p:cNvSpPr txBox="1"/>
          <p:nvPr>
            <p:ph idx="7" type="body"/>
          </p:nvPr>
        </p:nvSpPr>
        <p:spPr>
          <a:xfrm>
            <a:off x="203000" y="343340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2" name="Google Shape;232;p42"/>
          <p:cNvSpPr txBox="1"/>
          <p:nvPr>
            <p:ph idx="8" type="body"/>
          </p:nvPr>
        </p:nvSpPr>
        <p:spPr>
          <a:xfrm>
            <a:off x="203000" y="38624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3" name="Google Shape;233;p42"/>
          <p:cNvSpPr txBox="1"/>
          <p:nvPr>
            <p:ph idx="9" type="body"/>
          </p:nvPr>
        </p:nvSpPr>
        <p:spPr>
          <a:xfrm>
            <a:off x="203000" y="41306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4" name="Google Shape;234;p42"/>
          <p:cNvSpPr txBox="1"/>
          <p:nvPr>
            <p:ph idx="13" type="body"/>
          </p:nvPr>
        </p:nvSpPr>
        <p:spPr>
          <a:xfrm>
            <a:off x="3249600" y="8914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5" name="Google Shape;235;p42"/>
          <p:cNvSpPr txBox="1"/>
          <p:nvPr>
            <p:ph idx="14" type="body"/>
          </p:nvPr>
        </p:nvSpPr>
        <p:spPr>
          <a:xfrm>
            <a:off x="3249600" y="13204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6" name="Google Shape;236;p42"/>
          <p:cNvSpPr txBox="1"/>
          <p:nvPr>
            <p:ph idx="15" type="body"/>
          </p:nvPr>
        </p:nvSpPr>
        <p:spPr>
          <a:xfrm>
            <a:off x="3249600" y="15886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7" name="Google Shape;237;p42"/>
          <p:cNvSpPr txBox="1"/>
          <p:nvPr>
            <p:ph idx="16" type="body"/>
          </p:nvPr>
        </p:nvSpPr>
        <p:spPr>
          <a:xfrm>
            <a:off x="3249600" y="22065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8" name="Google Shape;238;p42"/>
          <p:cNvSpPr txBox="1"/>
          <p:nvPr>
            <p:ph idx="17" type="body"/>
          </p:nvPr>
        </p:nvSpPr>
        <p:spPr>
          <a:xfrm>
            <a:off x="3249600" y="26355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9" name="Google Shape;239;p42"/>
          <p:cNvSpPr txBox="1"/>
          <p:nvPr>
            <p:ph idx="18" type="body"/>
          </p:nvPr>
        </p:nvSpPr>
        <p:spPr>
          <a:xfrm>
            <a:off x="3249600" y="29037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0" name="Google Shape;240;p42"/>
          <p:cNvSpPr txBox="1"/>
          <p:nvPr>
            <p:ph idx="19" type="body"/>
          </p:nvPr>
        </p:nvSpPr>
        <p:spPr>
          <a:xfrm>
            <a:off x="3249600" y="343340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1" name="Google Shape;241;p42"/>
          <p:cNvSpPr txBox="1"/>
          <p:nvPr>
            <p:ph idx="20" type="body"/>
          </p:nvPr>
        </p:nvSpPr>
        <p:spPr>
          <a:xfrm>
            <a:off x="3249600" y="38624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2" name="Google Shape;242;p42"/>
          <p:cNvSpPr txBox="1"/>
          <p:nvPr>
            <p:ph idx="21" type="body"/>
          </p:nvPr>
        </p:nvSpPr>
        <p:spPr>
          <a:xfrm>
            <a:off x="3249600" y="41306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3" name="Google Shape;243;p42"/>
          <p:cNvSpPr txBox="1"/>
          <p:nvPr>
            <p:ph idx="22" type="body"/>
          </p:nvPr>
        </p:nvSpPr>
        <p:spPr>
          <a:xfrm>
            <a:off x="6296200" y="8914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4" name="Google Shape;244;p42"/>
          <p:cNvSpPr txBox="1"/>
          <p:nvPr>
            <p:ph idx="23" type="body"/>
          </p:nvPr>
        </p:nvSpPr>
        <p:spPr>
          <a:xfrm>
            <a:off x="6296200" y="13204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5" name="Google Shape;245;p42"/>
          <p:cNvSpPr txBox="1"/>
          <p:nvPr>
            <p:ph idx="24" type="body"/>
          </p:nvPr>
        </p:nvSpPr>
        <p:spPr>
          <a:xfrm>
            <a:off x="6296200" y="15886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6" name="Google Shape;246;p42"/>
          <p:cNvSpPr txBox="1"/>
          <p:nvPr>
            <p:ph idx="25" type="body"/>
          </p:nvPr>
        </p:nvSpPr>
        <p:spPr>
          <a:xfrm>
            <a:off x="6296200" y="22065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7" name="Google Shape;247;p42"/>
          <p:cNvSpPr txBox="1"/>
          <p:nvPr>
            <p:ph idx="26" type="body"/>
          </p:nvPr>
        </p:nvSpPr>
        <p:spPr>
          <a:xfrm>
            <a:off x="6296200" y="26355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8" name="Google Shape;248;p42"/>
          <p:cNvSpPr txBox="1"/>
          <p:nvPr>
            <p:ph idx="27" type="body"/>
          </p:nvPr>
        </p:nvSpPr>
        <p:spPr>
          <a:xfrm>
            <a:off x="6296200" y="29037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9" name="Google Shape;249;p42"/>
          <p:cNvSpPr txBox="1"/>
          <p:nvPr>
            <p:ph idx="28" type="body"/>
          </p:nvPr>
        </p:nvSpPr>
        <p:spPr>
          <a:xfrm>
            <a:off x="6296200" y="343340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50" name="Google Shape;250;p42"/>
          <p:cNvSpPr txBox="1"/>
          <p:nvPr>
            <p:ph idx="29" type="body"/>
          </p:nvPr>
        </p:nvSpPr>
        <p:spPr>
          <a:xfrm>
            <a:off x="6296200" y="38624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51" name="Google Shape;251;p42"/>
          <p:cNvSpPr txBox="1"/>
          <p:nvPr>
            <p:ph idx="30" type="body"/>
          </p:nvPr>
        </p:nvSpPr>
        <p:spPr>
          <a:xfrm>
            <a:off x="6296200" y="41306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52" name="Google Shape;252;p42"/>
          <p:cNvSpPr txBox="1"/>
          <p:nvPr>
            <p:ph idx="31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53" name="Google Shape;253;p42"/>
          <p:cNvSpPr txBox="1"/>
          <p:nvPr>
            <p:ph idx="32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lank">
  <p:cSld name="CUSTOM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6" name="Google Shape;256;p43"/>
          <p:cNvSpPr txBox="1"/>
          <p:nvPr>
            <p:ph idx="1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7" name="Google Shape;257;p43"/>
          <p:cNvSpPr txBox="1"/>
          <p:nvPr>
            <p:ph idx="2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theme" Target="../theme/theme3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17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DM Sans"/>
              <a:buChar char="○"/>
              <a:defRPr sz="8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○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○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24">
          <p15:clr>
            <a:srgbClr val="E46962"/>
          </p15:clr>
        </p15:guide>
        <p15:guide id="2" orient="horz" pos="124">
          <p15:clr>
            <a:srgbClr val="E46962"/>
          </p15:clr>
        </p15:guide>
        <p15:guide id="3" pos="5636">
          <p15:clr>
            <a:srgbClr val="E46962"/>
          </p15:clr>
        </p15:guide>
        <p15:guide id="4" orient="horz" pos="3116">
          <p15:clr>
            <a:srgbClr val="E46962"/>
          </p15:clr>
        </p15:guide>
        <p15:guide id="5" pos="1296">
          <p15:clr>
            <a:srgbClr val="E46962"/>
          </p15:clr>
        </p15:guide>
        <p15:guide id="6" pos="4465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docs.google.com/document/d/1GQv1lntJZOzK3FNL8AwjrfpbQnt3Fb-CjalkcisDIjI/edit?tab=t" TargetMode="External"/><Relationship Id="rId4" Type="http://schemas.openxmlformats.org/officeDocument/2006/relationships/hyperlink" Target="https://docs.google.com/document/d/1pQMbmRAum4HE3tpiq3XfYwU9Y0G7Vkue/edit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4"/>
          <p:cNvSpPr txBox="1"/>
          <p:nvPr>
            <p:ph type="ctrTitle"/>
          </p:nvPr>
        </p:nvSpPr>
        <p:spPr>
          <a:xfrm>
            <a:off x="196950" y="223825"/>
            <a:ext cx="8011800" cy="18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BAC Presentation 2025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63" name="Google Shape;263;p44"/>
          <p:cNvSpPr txBox="1"/>
          <p:nvPr>
            <p:ph idx="2" type="subTitle"/>
          </p:nvPr>
        </p:nvSpPr>
        <p:spPr>
          <a:xfrm>
            <a:off x="196950" y="2293950"/>
            <a:ext cx="3986700" cy="5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August Blomquist, Oliver Cheng, Alireza Darvishzadeh,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Nolan French, Jimmy Hernandez, Renata Krivenko, Connor Li,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Luke Olmos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64" name="Google Shape;26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0002" y="3624575"/>
            <a:ext cx="5576474" cy="1418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1476" y="1678350"/>
            <a:ext cx="4129674" cy="187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1" name="Google Shape;271;p45"/>
          <p:cNvSpPr txBox="1"/>
          <p:nvPr/>
        </p:nvSpPr>
        <p:spPr>
          <a:xfrm>
            <a:off x="126575" y="1311775"/>
            <a:ext cx="8561100" cy="3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2" name="Google Shape;272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Story</a:t>
            </a:r>
            <a:endParaRPr/>
          </a:p>
        </p:txBody>
      </p:sp>
      <p:sp>
        <p:nvSpPr>
          <p:cNvPr id="273" name="Google Shape;273;p45"/>
          <p:cNvSpPr txBox="1"/>
          <p:nvPr>
            <p:ph idx="1" type="body"/>
          </p:nvPr>
        </p:nvSpPr>
        <p:spPr>
          <a:xfrm>
            <a:off x="263225" y="1171875"/>
            <a:ext cx="8520600" cy="38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Merriweather"/>
              <a:buChar char="●"/>
            </a:pPr>
            <a:r>
              <a:rPr lang="en" sz="1900">
                <a:latin typeface="Merriweather"/>
                <a:ea typeface="Merriweather"/>
                <a:cs typeface="Merriweather"/>
                <a:sym typeface="Merriweather"/>
              </a:rPr>
              <a:t>Horizon Development: U.S. Real Estate</a:t>
            </a:r>
            <a:endParaRPr sz="19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Font typeface="Merriweather"/>
              <a:buChar char="○"/>
            </a:pPr>
            <a:r>
              <a:rPr lang="en" sz="1900">
                <a:latin typeface="Merriweather"/>
                <a:ea typeface="Merriweather"/>
                <a:cs typeface="Merriweather"/>
                <a:sym typeface="Merriweather"/>
              </a:rPr>
              <a:t>Considering New Markets (OECD Countries)</a:t>
            </a:r>
            <a:endParaRPr sz="19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92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Font typeface="Merriweather"/>
              <a:buChar char="■"/>
            </a:pPr>
            <a:r>
              <a:rPr lang="en" sz="1900">
                <a:latin typeface="Merriweather"/>
                <a:ea typeface="Merriweather"/>
                <a:cs typeface="Merriweather"/>
                <a:sym typeface="Merriweather"/>
              </a:rPr>
              <a:t>Sage Wright and Alex Bond: Senior Investment Managers</a:t>
            </a:r>
            <a:endParaRPr sz="19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92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Font typeface="Merriweather"/>
              <a:buChar char="○"/>
            </a:pPr>
            <a:r>
              <a:rPr lang="en" sz="1900">
                <a:latin typeface="Merriweather"/>
                <a:ea typeface="Merriweather"/>
                <a:cs typeface="Merriweather"/>
                <a:sym typeface="Merriweather"/>
              </a:rPr>
              <a:t>Concerns with Debt Trends</a:t>
            </a:r>
            <a:endParaRPr sz="19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92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Font typeface="Merriweather"/>
              <a:buChar char="■"/>
            </a:pPr>
            <a:r>
              <a:rPr lang="en" sz="1900">
                <a:latin typeface="Merriweather"/>
                <a:ea typeface="Merriweather"/>
                <a:cs typeface="Merriweather"/>
                <a:sym typeface="Merriweather"/>
              </a:rPr>
              <a:t>$100T by 2030 (IMF)</a:t>
            </a:r>
            <a:endParaRPr sz="19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92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Font typeface="Merriweather"/>
              <a:buChar char="○"/>
            </a:pPr>
            <a:r>
              <a:rPr lang="en" sz="1900">
                <a:latin typeface="Merriweather"/>
                <a:ea typeface="Merriweather"/>
                <a:cs typeface="Merriweather"/>
                <a:sym typeface="Merriweather"/>
              </a:rPr>
              <a:t>Public Sector Debt: Harms Interest Rates and GDP Growth</a:t>
            </a:r>
            <a:endParaRPr sz="19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92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Font typeface="Merriweather"/>
              <a:buChar char="■"/>
            </a:pPr>
            <a:r>
              <a:rPr lang="en" sz="1900">
                <a:latin typeface="Merriweather"/>
                <a:ea typeface="Merriweather"/>
                <a:cs typeface="Merriweather"/>
                <a:sym typeface="Merriweather"/>
              </a:rPr>
              <a:t>Linked to Real Estate Profitability</a:t>
            </a:r>
            <a:endParaRPr sz="1900"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9" name="Google Shape;279;p46"/>
          <p:cNvSpPr txBox="1"/>
          <p:nvPr/>
        </p:nvSpPr>
        <p:spPr>
          <a:xfrm>
            <a:off x="126575" y="1311775"/>
            <a:ext cx="8561100" cy="37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0" name="Google Shape;280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Objectives</a:t>
            </a:r>
            <a:endParaRPr/>
          </a:p>
        </p:txBody>
      </p:sp>
      <p:sp>
        <p:nvSpPr>
          <p:cNvPr id="281" name="Google Shape;281;p46"/>
          <p:cNvSpPr txBox="1"/>
          <p:nvPr>
            <p:ph idx="1" type="body"/>
          </p:nvPr>
        </p:nvSpPr>
        <p:spPr>
          <a:xfrm>
            <a:off x="311700" y="1152475"/>
            <a:ext cx="8520600" cy="39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Merriweather"/>
              <a:buChar char="●"/>
            </a:pPr>
            <a:r>
              <a:rPr lang="en" sz="1900">
                <a:latin typeface="Merriweather"/>
                <a:ea typeface="Merriweather"/>
                <a:cs typeface="Merriweather"/>
                <a:sym typeface="Merriweather"/>
              </a:rPr>
              <a:t>Assess Severity of Public Sector Debt</a:t>
            </a:r>
            <a:endParaRPr sz="19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Font typeface="Merriweather"/>
              <a:buChar char="○"/>
            </a:pPr>
            <a:r>
              <a:rPr lang="en" sz="1900">
                <a:latin typeface="Merriweather"/>
                <a:ea typeface="Merriweather"/>
                <a:cs typeface="Merriweather"/>
                <a:sym typeface="Merriweather"/>
              </a:rPr>
              <a:t>37 OECD Countries from 2010 - 2023.</a:t>
            </a:r>
            <a:endParaRPr sz="19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Font typeface="Merriweather"/>
              <a:buChar char="○"/>
            </a:pPr>
            <a:r>
              <a:rPr lang="en" sz="1900">
                <a:latin typeface="Merriweather"/>
                <a:ea typeface="Merriweather"/>
                <a:cs typeface="Merriweather"/>
                <a:sym typeface="Merriweather"/>
              </a:rPr>
              <a:t>Data via </a:t>
            </a:r>
            <a:r>
              <a:rPr lang="en" sz="1900">
                <a:latin typeface="Merriweather"/>
                <a:ea typeface="Merriweather"/>
                <a:cs typeface="Merriweather"/>
                <a:sym typeface="Merriweather"/>
              </a:rPr>
              <a:t>World Bank</a:t>
            </a:r>
            <a:r>
              <a:rPr lang="en" sz="1900">
                <a:latin typeface="Merriweather"/>
                <a:ea typeface="Merriweather"/>
                <a:cs typeface="Merriweather"/>
                <a:sym typeface="Merriweather"/>
              </a:rPr>
              <a:t> DataBank</a:t>
            </a:r>
            <a:endParaRPr sz="19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Merriweather"/>
              <a:buChar char="●"/>
            </a:pPr>
            <a:r>
              <a:rPr lang="en" sz="1900">
                <a:latin typeface="Merriweather"/>
                <a:ea typeface="Merriweather"/>
                <a:cs typeface="Merriweather"/>
                <a:sym typeface="Merriweather"/>
              </a:rPr>
              <a:t>Analyze Debt Trends</a:t>
            </a:r>
            <a:endParaRPr sz="19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Font typeface="Merriweather"/>
              <a:buChar char="○"/>
            </a:pPr>
            <a:r>
              <a:rPr lang="en" sz="1900">
                <a:latin typeface="Merriweather"/>
                <a:ea typeface="Merriweather"/>
                <a:cs typeface="Merriweather"/>
                <a:sym typeface="Merriweather"/>
              </a:rPr>
              <a:t>Identify Causes of Trends</a:t>
            </a:r>
            <a:endParaRPr sz="19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Font typeface="Merriweather"/>
              <a:buChar char="○"/>
            </a:pPr>
            <a:r>
              <a:rPr lang="en" sz="1900">
                <a:latin typeface="Merriweather"/>
                <a:ea typeface="Merriweather"/>
                <a:cs typeface="Merriweather"/>
                <a:sym typeface="Merriweather"/>
              </a:rPr>
              <a:t>Find influence of Economic Shocks</a:t>
            </a:r>
            <a:endParaRPr sz="19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9250" lvl="2" marL="1371600" rtl="0" algn="l">
              <a:spcBef>
                <a:spcPts val="0"/>
              </a:spcBef>
              <a:spcAft>
                <a:spcPts val="0"/>
              </a:spcAft>
              <a:buSzPts val="1900"/>
              <a:buFont typeface="Merriweather"/>
              <a:buChar char="■"/>
            </a:pPr>
            <a:r>
              <a:rPr lang="en" sz="1900">
                <a:latin typeface="Merriweather"/>
                <a:ea typeface="Merriweather"/>
                <a:cs typeface="Merriweather"/>
                <a:sym typeface="Merriweather"/>
              </a:rPr>
              <a:t>Covid, Eurozone Crisis</a:t>
            </a:r>
            <a:endParaRPr sz="19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Merriweather"/>
              <a:buChar char="●"/>
            </a:pPr>
            <a:r>
              <a:rPr lang="en" sz="1900">
                <a:latin typeface="Merriweather"/>
                <a:ea typeface="Merriweather"/>
                <a:cs typeface="Merriweather"/>
                <a:sym typeface="Merriweather"/>
              </a:rPr>
              <a:t>Recommend Well-Performing Countries</a:t>
            </a:r>
            <a:endParaRPr sz="19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Font typeface="Merriweather"/>
              <a:buChar char="○"/>
            </a:pPr>
            <a:r>
              <a:rPr lang="en" sz="1900">
                <a:latin typeface="Merriweather"/>
                <a:ea typeface="Merriweather"/>
                <a:cs typeface="Merriweather"/>
                <a:sym typeface="Merriweather"/>
              </a:rPr>
              <a:t>Public Sector Debt</a:t>
            </a:r>
            <a:endParaRPr sz="19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Font typeface="Merriweather"/>
              <a:buChar char="○"/>
            </a:pPr>
            <a:r>
              <a:rPr lang="en" sz="1900">
                <a:latin typeface="Merriweather"/>
                <a:ea typeface="Merriweather"/>
                <a:cs typeface="Merriweather"/>
                <a:sym typeface="Merriweather"/>
              </a:rPr>
              <a:t>Response to Covid, Eurozone</a:t>
            </a:r>
            <a:endParaRPr sz="1900"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7" name="Google Shape;287;p47"/>
          <p:cNvSpPr txBox="1"/>
          <p:nvPr/>
        </p:nvSpPr>
        <p:spPr>
          <a:xfrm>
            <a:off x="126575" y="1311775"/>
            <a:ext cx="8561100" cy="3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8" name="Google Shape;288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Question</a:t>
            </a:r>
            <a:endParaRPr/>
          </a:p>
        </p:txBody>
      </p:sp>
      <p:sp>
        <p:nvSpPr>
          <p:cNvPr id="289" name="Google Shape;289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Merriweather"/>
                <a:ea typeface="Merriweather"/>
                <a:cs typeface="Merriweather"/>
                <a:sym typeface="Merriweather"/>
              </a:rPr>
              <a:t>How have public debt conditions, trends, contributing factors, and their impacts on economic indicators across OECD countries from 2010 to 2023?</a:t>
            </a:r>
            <a:endParaRPr sz="25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5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5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290" name="Google Shape;290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1362" y="2290925"/>
            <a:ext cx="3541521" cy="265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75" y="1175275"/>
            <a:ext cx="4561800" cy="296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1650" y="1175275"/>
            <a:ext cx="4502349" cy="29698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2" name="Google Shape;302;p49"/>
          <p:cNvSpPr txBox="1"/>
          <p:nvPr/>
        </p:nvSpPr>
        <p:spPr>
          <a:xfrm>
            <a:off x="126575" y="1311775"/>
            <a:ext cx="8561100" cy="3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3" name="Google Shape;303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</p:txBody>
      </p:sp>
      <p:sp>
        <p:nvSpPr>
          <p:cNvPr id="304" name="Google Shape;304;p49"/>
          <p:cNvSpPr txBox="1"/>
          <p:nvPr>
            <p:ph idx="1" type="body"/>
          </p:nvPr>
        </p:nvSpPr>
        <p:spPr>
          <a:xfrm>
            <a:off x="126575" y="1152475"/>
            <a:ext cx="4324500" cy="37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Merriweather"/>
              <a:buChar char="●"/>
            </a:pPr>
            <a:r>
              <a:rPr lang="en" sz="1700">
                <a:latin typeface="Merriweather"/>
                <a:ea typeface="Merriweather"/>
                <a:cs typeface="Merriweather"/>
                <a:sym typeface="Merriweather"/>
              </a:rPr>
              <a:t>Average Wages</a:t>
            </a:r>
            <a:endParaRPr sz="17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Merriweather"/>
              <a:buChar char="●"/>
            </a:pPr>
            <a:r>
              <a:rPr lang="en" sz="1700">
                <a:latin typeface="Merriweather"/>
                <a:ea typeface="Merriweather"/>
                <a:cs typeface="Merriweather"/>
                <a:sym typeface="Merriweather"/>
              </a:rPr>
              <a:t>Labor Force Participation Rate</a:t>
            </a:r>
            <a:endParaRPr sz="17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Merriweather"/>
              <a:buChar char="●"/>
            </a:pPr>
            <a:r>
              <a:rPr lang="en" sz="1700">
                <a:latin typeface="Merriweather"/>
                <a:ea typeface="Merriweather"/>
                <a:cs typeface="Merriweather"/>
                <a:sym typeface="Merriweather"/>
              </a:rPr>
              <a:t>Exports of Goods &amp; Services</a:t>
            </a:r>
            <a:endParaRPr sz="17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Merriweather"/>
              <a:buChar char="●"/>
            </a:pPr>
            <a:r>
              <a:rPr lang="en" sz="1700">
                <a:latin typeface="Merriweather"/>
                <a:ea typeface="Merriweather"/>
                <a:cs typeface="Merriweather"/>
                <a:sym typeface="Merriweather"/>
              </a:rPr>
              <a:t>Imports of Goods &amp; Services</a:t>
            </a:r>
            <a:endParaRPr sz="17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Merriweather"/>
              <a:buChar char="●"/>
            </a:pPr>
            <a:r>
              <a:rPr lang="en" sz="1700">
                <a:latin typeface="Merriweather"/>
                <a:ea typeface="Merriweather"/>
                <a:cs typeface="Merriweather"/>
                <a:sym typeface="Merriweather"/>
              </a:rPr>
              <a:t>National GDP (USD)</a:t>
            </a:r>
            <a:endParaRPr sz="17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Merriweather"/>
              <a:buChar char="●"/>
            </a:pPr>
            <a:r>
              <a:rPr lang="en" sz="1700">
                <a:latin typeface="Merriweather"/>
                <a:ea typeface="Merriweather"/>
                <a:cs typeface="Merriweather"/>
                <a:sym typeface="Merriweather"/>
              </a:rPr>
              <a:t>Standardized Population Growth</a:t>
            </a:r>
            <a:endParaRPr sz="17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Merriweather"/>
              <a:buChar char="●"/>
            </a:pPr>
            <a:r>
              <a:rPr lang="en" sz="1700">
                <a:latin typeface="Merriweather"/>
                <a:ea typeface="Merriweather"/>
                <a:cs typeface="Merriweather"/>
                <a:sym typeface="Merriweather"/>
              </a:rPr>
              <a:t>Unemployment Rate</a:t>
            </a:r>
            <a:endParaRPr sz="17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Merriweather"/>
              <a:buChar char="●"/>
            </a:pPr>
            <a:r>
              <a:rPr lang="en" sz="1700">
                <a:latin typeface="Merriweather"/>
                <a:ea typeface="Merriweather"/>
                <a:cs typeface="Merriweather"/>
                <a:sym typeface="Merriweather"/>
              </a:rPr>
              <a:t>Current Account Balance</a:t>
            </a:r>
            <a:endParaRPr sz="17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Merriweather"/>
              <a:buChar char="●"/>
            </a:pPr>
            <a:r>
              <a:rPr lang="en" sz="1700">
                <a:latin typeface="Merriweather"/>
                <a:ea typeface="Merriweather"/>
                <a:cs typeface="Merriweather"/>
                <a:sym typeface="Merriweather"/>
              </a:rPr>
              <a:t>Inflation Rate</a:t>
            </a:r>
            <a:endParaRPr sz="17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05" name="Google Shape;305;p49"/>
          <p:cNvSpPr txBox="1"/>
          <p:nvPr>
            <p:ph idx="1" type="body"/>
          </p:nvPr>
        </p:nvSpPr>
        <p:spPr>
          <a:xfrm>
            <a:off x="4290075" y="1196525"/>
            <a:ext cx="4731000" cy="379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Font typeface="Merriweather"/>
              <a:buChar char="●"/>
            </a:pPr>
            <a:r>
              <a:rPr lang="en" sz="1900">
                <a:latin typeface="Merriweather"/>
                <a:ea typeface="Merriweather"/>
                <a:cs typeface="Merriweather"/>
                <a:sym typeface="Merriweather"/>
              </a:rPr>
              <a:t>Housing Pricing Indicator</a:t>
            </a:r>
            <a:endParaRPr sz="19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Font typeface="Merriweather"/>
              <a:buChar char="●"/>
            </a:pPr>
            <a:r>
              <a:rPr lang="en" sz="1900">
                <a:latin typeface="Merriweather"/>
                <a:ea typeface="Merriweather"/>
                <a:cs typeface="Merriweather"/>
                <a:sym typeface="Merriweather"/>
              </a:rPr>
              <a:t>Corruption Perception Index</a:t>
            </a:r>
            <a:endParaRPr sz="19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Font typeface="Merriweather"/>
              <a:buChar char="●"/>
            </a:pPr>
            <a:r>
              <a:rPr lang="en" sz="1900">
                <a:latin typeface="Merriweather"/>
                <a:ea typeface="Merriweather"/>
                <a:cs typeface="Merriweather"/>
                <a:sym typeface="Merriweather"/>
              </a:rPr>
              <a:t>FDI</a:t>
            </a:r>
            <a:endParaRPr sz="19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Font typeface="Merriweather"/>
              <a:buChar char="●"/>
            </a:pPr>
            <a:r>
              <a:rPr lang="en" sz="1900">
                <a:latin typeface="Merriweather"/>
                <a:ea typeface="Merriweather"/>
                <a:cs typeface="Merriweather"/>
                <a:sym typeface="Merriweather"/>
              </a:rPr>
              <a:t>Consumer Price Index (CPI)</a:t>
            </a:r>
            <a:endParaRPr sz="19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Font typeface="Merriweather"/>
              <a:buChar char="●"/>
            </a:pPr>
            <a:r>
              <a:rPr lang="en" sz="1900">
                <a:latin typeface="Merriweather"/>
                <a:ea typeface="Merriweather"/>
                <a:cs typeface="Merriweather"/>
                <a:sym typeface="Merriweather"/>
              </a:rPr>
              <a:t>Tax Revenue (% of GDP)</a:t>
            </a:r>
            <a:endParaRPr sz="19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Font typeface="Merriweather"/>
              <a:buChar char="●"/>
            </a:pPr>
            <a:r>
              <a:rPr lang="en" sz="1900">
                <a:latin typeface="Merriweather"/>
                <a:ea typeface="Merriweather"/>
                <a:cs typeface="Merriweather"/>
                <a:sym typeface="Merriweather"/>
              </a:rPr>
              <a:t>Urban Population Growth Rate</a:t>
            </a:r>
            <a:endParaRPr sz="19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Font typeface="Merriweather"/>
              <a:buChar char="●"/>
            </a:pPr>
            <a:r>
              <a:rPr lang="en" sz="1900">
                <a:latin typeface="Merriweather"/>
                <a:ea typeface="Merriweather"/>
                <a:cs typeface="Merriweather"/>
                <a:sym typeface="Merriweather"/>
              </a:rPr>
              <a:t>GDP per Capita</a:t>
            </a:r>
            <a:endParaRPr sz="19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Font typeface="Merriweather"/>
              <a:buChar char="●"/>
            </a:pPr>
            <a:r>
              <a:rPr lang="en" sz="1900">
                <a:latin typeface="Merriweather"/>
                <a:ea typeface="Merriweather"/>
                <a:cs typeface="Merriweather"/>
                <a:sym typeface="Merriweather"/>
              </a:rPr>
              <a:t>WUI</a:t>
            </a:r>
            <a:endParaRPr sz="1900"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1" name="Google Shape;311;p50"/>
          <p:cNvSpPr txBox="1"/>
          <p:nvPr/>
        </p:nvSpPr>
        <p:spPr>
          <a:xfrm>
            <a:off x="126575" y="1311775"/>
            <a:ext cx="8561100" cy="3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2" name="Google Shape;312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  <p:sp>
        <p:nvSpPr>
          <p:cNvPr id="313" name="Google Shape;313;p50"/>
          <p:cNvSpPr txBox="1"/>
          <p:nvPr>
            <p:ph idx="1" type="body"/>
          </p:nvPr>
        </p:nvSpPr>
        <p:spPr>
          <a:xfrm>
            <a:off x="64725" y="1066575"/>
            <a:ext cx="8520600" cy="379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Merriweather"/>
              <a:buChar char="●"/>
            </a:pPr>
            <a:r>
              <a:rPr lang="en" sz="1900">
                <a:latin typeface="Merriweather"/>
                <a:ea typeface="Merriweather"/>
                <a:cs typeface="Merriweather"/>
                <a:sym typeface="Merriweather"/>
              </a:rPr>
              <a:t>All Variables converted into Year-over-Year (YoY)</a:t>
            </a:r>
            <a:endParaRPr sz="19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graphicFrame>
        <p:nvGraphicFramePr>
          <p:cNvPr id="314" name="Google Shape;314;p50"/>
          <p:cNvGraphicFramePr/>
          <p:nvPr/>
        </p:nvGraphicFramePr>
        <p:xfrm>
          <a:off x="126575" y="1655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{0891D946-C5B1-44C4-B7D6-E7FC5FD608D4}</a:tableStyleId>
              </a:tblPr>
              <a:tblGrid>
                <a:gridCol w="4260300"/>
                <a:gridCol w="4260300"/>
              </a:tblGrid>
              <a:tr h="417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Target Variable</a:t>
                      </a:r>
                      <a:endParaRPr sz="15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Public Sector Debt (% of GDP)</a:t>
                      </a:r>
                      <a:endParaRPr sz="12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/>
                </a:tc>
              </a:tr>
              <a:tr h="417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2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Feature Variables</a:t>
                      </a:r>
                      <a:endParaRPr b="1" sz="15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Economic Indicators</a:t>
                      </a:r>
                      <a:endParaRPr sz="12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/>
                </a:tc>
              </a:tr>
              <a:tr h="758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Regions</a:t>
                      </a:r>
                      <a:endParaRPr b="1" sz="15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Euro (26 countries)</a:t>
                      </a:r>
                      <a:endParaRPr sz="12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Non-Euro (11 countries)</a:t>
                      </a:r>
                      <a:endParaRPr sz="12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All 37 OECD Countries</a:t>
                      </a:r>
                      <a:endParaRPr sz="12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/>
                </a:tc>
              </a:tr>
              <a:tr h="88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Time Periods</a:t>
                      </a:r>
                      <a:endParaRPr b="1" sz="15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2010 - 2012 (Eurozone)</a:t>
                      </a:r>
                      <a:endParaRPr sz="12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2014 - 2019 (“normal”)</a:t>
                      </a:r>
                      <a:endParaRPr sz="12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2020 - 2021 (COVID) </a:t>
                      </a:r>
                      <a:endParaRPr sz="12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2022 - 2023 (“normal”)</a:t>
                      </a:r>
                      <a:endParaRPr sz="12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/>
                </a:tc>
              </a:tr>
              <a:tr h="927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Steps</a:t>
                      </a:r>
                      <a:endParaRPr sz="15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048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Merriweather"/>
                        <a:buAutoNum type="arabicPeriod"/>
                      </a:pPr>
                      <a:r>
                        <a:rPr lang="en" sz="12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Find Correlation + Significant Factors</a:t>
                      </a:r>
                      <a:endParaRPr sz="12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  <a:p>
                      <a:pPr indent="-3048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Merriweather"/>
                        <a:buAutoNum type="arabicPeriod"/>
                      </a:pPr>
                      <a:r>
                        <a:rPr lang="en" sz="12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Derive Coefficients </a:t>
                      </a:r>
                      <a:endParaRPr sz="12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  <a:p>
                      <a:pPr indent="-3048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Merriweather"/>
                        <a:buAutoNum type="arabicPeriod"/>
                      </a:pPr>
                      <a:r>
                        <a:rPr b="1" lang="en" sz="12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Predict</a:t>
                      </a:r>
                      <a:r>
                        <a:rPr b="1" lang="en" sz="12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 2024 - 2030 Public Sector Debt </a:t>
                      </a:r>
                      <a:r>
                        <a:rPr lang="en" sz="12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using 3 different methods and 3 unique scenarios.</a:t>
                      </a:r>
                      <a:endParaRPr sz="12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Overview: Finding Public Debt Coefficients</a:t>
            </a:r>
            <a:endParaRPr/>
          </a:p>
        </p:txBody>
      </p:sp>
      <p:sp>
        <p:nvSpPr>
          <p:cNvPr id="320" name="Google Shape;320;p51"/>
          <p:cNvSpPr txBox="1"/>
          <p:nvPr>
            <p:ph idx="1" type="body"/>
          </p:nvPr>
        </p:nvSpPr>
        <p:spPr>
          <a:xfrm>
            <a:off x="311700" y="1017725"/>
            <a:ext cx="8520600" cy="404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hlink"/>
                </a:solidFill>
                <a:latin typeface="Merriweather"/>
                <a:ea typeface="Merriweather"/>
                <a:cs typeface="Merriweather"/>
                <a:sym typeface="Merriweather"/>
              </a:rPr>
              <a:t>Objective:</a:t>
            </a:r>
            <a:endParaRPr sz="1600">
              <a:solidFill>
                <a:schemeClr val="hlink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600"/>
              <a:buFont typeface="Merriweather"/>
              <a:buChar char="●"/>
            </a:pPr>
            <a:r>
              <a:rPr lang="en" sz="1600">
                <a:solidFill>
                  <a:schemeClr val="hlink"/>
                </a:solidFill>
                <a:latin typeface="Merriweather"/>
                <a:ea typeface="Merriweather"/>
                <a:cs typeface="Merriweather"/>
                <a:sym typeface="Merriweather"/>
              </a:rPr>
              <a:t>Estimate Coefficients of Economic Indicators</a:t>
            </a:r>
            <a:endParaRPr sz="1600">
              <a:solidFill>
                <a:schemeClr val="hlink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600"/>
              <a:buFont typeface="Merriweather"/>
              <a:buAutoNum type="alphaLcPeriod"/>
            </a:pPr>
            <a:r>
              <a:rPr lang="en" sz="1600">
                <a:solidFill>
                  <a:schemeClr val="hlink"/>
                </a:solidFill>
                <a:latin typeface="Merriweather"/>
                <a:ea typeface="Merriweather"/>
                <a:cs typeface="Merriweather"/>
                <a:sym typeface="Merriweather"/>
              </a:rPr>
              <a:t>Multilinearity (VIF)</a:t>
            </a:r>
            <a:endParaRPr sz="1600">
              <a:solidFill>
                <a:schemeClr val="hlink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600"/>
              <a:buFont typeface="Merriweather"/>
              <a:buAutoNum type="alphaLcPeriod"/>
            </a:pPr>
            <a:r>
              <a:rPr lang="en" sz="1600">
                <a:solidFill>
                  <a:schemeClr val="hlink"/>
                </a:solidFill>
                <a:latin typeface="Merriweather"/>
                <a:ea typeface="Merriweather"/>
                <a:cs typeface="Merriweather"/>
                <a:sym typeface="Merriweather"/>
              </a:rPr>
              <a:t>Significance (P-Value)</a:t>
            </a:r>
            <a:endParaRPr sz="1600">
              <a:solidFill>
                <a:schemeClr val="hlink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hlink"/>
                </a:solidFill>
                <a:latin typeface="Merriweather"/>
                <a:ea typeface="Merriweather"/>
                <a:cs typeface="Merriweather"/>
                <a:sym typeface="Merriweather"/>
              </a:rPr>
              <a:t>Country Dummies</a:t>
            </a:r>
            <a:r>
              <a:rPr lang="en" sz="1600">
                <a:solidFill>
                  <a:schemeClr val="hlink"/>
                </a:solidFill>
                <a:latin typeface="Merriweather"/>
                <a:ea typeface="Merriweather"/>
                <a:cs typeface="Merriweather"/>
                <a:sym typeface="Merriweather"/>
              </a:rPr>
              <a:t>:</a:t>
            </a:r>
            <a:endParaRPr sz="1600">
              <a:solidFill>
                <a:schemeClr val="hlink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600"/>
              <a:buFont typeface="Merriweather"/>
              <a:buChar char="●"/>
            </a:pPr>
            <a:r>
              <a:rPr lang="en" sz="1600">
                <a:solidFill>
                  <a:schemeClr val="hlink"/>
                </a:solidFill>
                <a:latin typeface="Merriweather"/>
                <a:ea typeface="Merriweather"/>
                <a:cs typeface="Merriweather"/>
                <a:sym typeface="Merriweather"/>
              </a:rPr>
              <a:t>Dropping one country (USA) sets a baseline for comparison.</a:t>
            </a:r>
            <a:endParaRPr sz="1600">
              <a:solidFill>
                <a:schemeClr val="hlink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600"/>
              <a:buFont typeface="Merriweather"/>
              <a:buChar char="●"/>
            </a:pPr>
            <a:r>
              <a:rPr lang="en" sz="1600">
                <a:solidFill>
                  <a:schemeClr val="hlink"/>
                </a:solidFill>
                <a:latin typeface="Merriweather"/>
                <a:ea typeface="Merriweather"/>
                <a:cs typeface="Merriweather"/>
                <a:sym typeface="Merriweather"/>
              </a:rPr>
              <a:t>Helps reduce multicollinearity by simplifying categorical data into binary choices, making relationships between predictors more distinct.</a:t>
            </a:r>
            <a:endParaRPr sz="1600">
              <a:solidFill>
                <a:schemeClr val="hlink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hlink"/>
                </a:solidFill>
                <a:latin typeface="Merriweather"/>
                <a:ea typeface="Merriweather"/>
                <a:cs typeface="Merriweather"/>
                <a:sym typeface="Merriweather"/>
              </a:rPr>
              <a:t>Approach</a:t>
            </a:r>
            <a:r>
              <a:rPr lang="en" sz="1600">
                <a:solidFill>
                  <a:schemeClr val="hlink"/>
                </a:solidFill>
                <a:latin typeface="Merriweather"/>
                <a:ea typeface="Merriweather"/>
                <a:cs typeface="Merriweather"/>
                <a:sym typeface="Merriweather"/>
              </a:rPr>
              <a:t>:</a:t>
            </a:r>
            <a:endParaRPr sz="1600">
              <a:solidFill>
                <a:schemeClr val="hlink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600"/>
              <a:buFont typeface="Merriweather"/>
              <a:buChar char="●"/>
            </a:pPr>
            <a:r>
              <a:rPr lang="en" sz="1600">
                <a:solidFill>
                  <a:schemeClr val="hlink"/>
                </a:solidFill>
                <a:latin typeface="Merriweather"/>
                <a:ea typeface="Merriweather"/>
                <a:cs typeface="Merriweather"/>
                <a:sym typeface="Merriweather"/>
              </a:rPr>
              <a:t>Use OLS (Ordinary Least Squares) - Method for fitting a linear regression line while taking into account multiple input variables (Factors)</a:t>
            </a:r>
            <a:endParaRPr sz="1600">
              <a:solidFill>
                <a:schemeClr val="hlink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21" name="Google Shape;321;p51"/>
          <p:cNvSpPr txBox="1"/>
          <p:nvPr/>
        </p:nvSpPr>
        <p:spPr>
          <a:xfrm>
            <a:off x="5722200" y="1082525"/>
            <a:ext cx="3421800" cy="17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hlink"/>
                </a:solidFill>
                <a:latin typeface="Merriweather"/>
                <a:ea typeface="Merriweather"/>
                <a:cs typeface="Merriweather"/>
                <a:sym typeface="Merriweather"/>
              </a:rPr>
              <a:t>Year Dummies:</a:t>
            </a:r>
            <a:endParaRPr b="1" sz="1600">
              <a:solidFill>
                <a:schemeClr val="hlink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600"/>
              <a:buFont typeface="Merriweather"/>
              <a:buChar char="●"/>
            </a:pPr>
            <a:r>
              <a:rPr lang="en" sz="1600">
                <a:solidFill>
                  <a:schemeClr val="hlink"/>
                </a:solidFill>
                <a:latin typeface="Merriweather"/>
                <a:ea typeface="Merriweather"/>
                <a:cs typeface="Merriweather"/>
                <a:sym typeface="Merriweather"/>
              </a:rPr>
              <a:t>Without year dummy</a:t>
            </a:r>
            <a:endParaRPr sz="1600">
              <a:solidFill>
                <a:schemeClr val="hlink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600"/>
              <a:buFont typeface="Merriweather"/>
              <a:buChar char="●"/>
            </a:pPr>
            <a:r>
              <a:rPr lang="en" sz="1600">
                <a:solidFill>
                  <a:schemeClr val="hlink"/>
                </a:solidFill>
                <a:latin typeface="Merriweather"/>
                <a:ea typeface="Merriweather"/>
                <a:cs typeface="Merriweather"/>
                <a:sym typeface="Merriweather"/>
              </a:rPr>
              <a:t>Covid (2020-2021)</a:t>
            </a:r>
            <a:endParaRPr sz="1600">
              <a:solidFill>
                <a:schemeClr val="hlink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600"/>
              <a:buFont typeface="Merriweather"/>
              <a:buChar char="●"/>
            </a:pPr>
            <a:r>
              <a:rPr lang="en" sz="1600">
                <a:solidFill>
                  <a:schemeClr val="hlink"/>
                </a:solidFill>
                <a:latin typeface="Merriweather"/>
                <a:ea typeface="Merriweather"/>
                <a:cs typeface="Merriweather"/>
                <a:sym typeface="Merriweather"/>
              </a:rPr>
              <a:t>Eurozone Crisis (2010-2012)</a:t>
            </a:r>
            <a:endParaRPr sz="1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7" name="Google Shape;327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Limitations, Significance </a:t>
            </a:r>
            <a:endParaRPr/>
          </a:p>
        </p:txBody>
      </p:sp>
      <p:sp>
        <p:nvSpPr>
          <p:cNvPr id="328" name="Google Shape;328;p52"/>
          <p:cNvSpPr txBox="1"/>
          <p:nvPr>
            <p:ph idx="1" type="body"/>
          </p:nvPr>
        </p:nvSpPr>
        <p:spPr>
          <a:xfrm>
            <a:off x="311700" y="1152475"/>
            <a:ext cx="8520600" cy="39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Merriweather"/>
              <a:buChar char="●"/>
            </a:pPr>
            <a:r>
              <a:rPr lang="en" sz="1900">
                <a:latin typeface="Merriweather"/>
                <a:ea typeface="Merriweather"/>
                <a:cs typeface="Merriweather"/>
                <a:sym typeface="Merriweather"/>
              </a:rPr>
              <a:t>High </a:t>
            </a:r>
            <a:r>
              <a:rPr lang="en" sz="1900">
                <a:latin typeface="Merriweather"/>
                <a:ea typeface="Merriweather"/>
                <a:cs typeface="Merriweather"/>
                <a:sym typeface="Merriweather"/>
              </a:rPr>
              <a:t>Multicollinearity</a:t>
            </a:r>
            <a:endParaRPr sz="19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Font typeface="Merriweather"/>
              <a:buChar char="○"/>
            </a:pPr>
            <a:r>
              <a:rPr lang="en" sz="1900">
                <a:latin typeface="Merriweather"/>
                <a:ea typeface="Merriweather"/>
                <a:cs typeface="Merriweather"/>
                <a:sym typeface="Merriweather"/>
              </a:rPr>
              <a:t>Factors such as Labor Force have high VIF like 1300.</a:t>
            </a:r>
            <a:endParaRPr sz="19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9250" lvl="2" marL="1371600" rtl="0" algn="l">
              <a:spcBef>
                <a:spcPts val="0"/>
              </a:spcBef>
              <a:spcAft>
                <a:spcPts val="0"/>
              </a:spcAft>
              <a:buSzPts val="1900"/>
              <a:buFont typeface="Merriweather"/>
              <a:buChar char="■"/>
            </a:pPr>
            <a:r>
              <a:rPr lang="en" sz="1900">
                <a:latin typeface="Merriweather"/>
                <a:ea typeface="Merriweather"/>
                <a:cs typeface="Merriweather"/>
                <a:sym typeface="Merriweather"/>
              </a:rPr>
              <a:t>Independent variables are </a:t>
            </a:r>
            <a:r>
              <a:rPr lang="en" sz="1900">
                <a:latin typeface="Merriweather"/>
                <a:ea typeface="Merriweather"/>
                <a:cs typeface="Merriweather"/>
                <a:sym typeface="Merriweather"/>
              </a:rPr>
              <a:t>highly</a:t>
            </a:r>
            <a:r>
              <a:rPr lang="en" sz="1900">
                <a:latin typeface="Merriweather"/>
                <a:ea typeface="Merriweather"/>
                <a:cs typeface="Merriweather"/>
                <a:sym typeface="Merriweather"/>
              </a:rPr>
              <a:t> correlated with each other.</a:t>
            </a:r>
            <a:endParaRPr sz="19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Merriweather"/>
              <a:buChar char="●"/>
            </a:pPr>
            <a:r>
              <a:rPr lang="en" sz="1900">
                <a:latin typeface="Merriweather"/>
                <a:ea typeface="Merriweather"/>
                <a:cs typeface="Merriweather"/>
                <a:sym typeface="Merriweather"/>
              </a:rPr>
              <a:t>Insignificant</a:t>
            </a:r>
            <a:r>
              <a:rPr lang="en" sz="1900">
                <a:latin typeface="Merriweather"/>
                <a:ea typeface="Merriweather"/>
                <a:cs typeface="Merriweather"/>
                <a:sym typeface="Merriweather"/>
              </a:rPr>
              <a:t> Variables: </a:t>
            </a:r>
            <a:endParaRPr sz="19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Font typeface="Merriweather"/>
              <a:buChar char="○"/>
            </a:pPr>
            <a:r>
              <a:rPr lang="en" sz="1900">
                <a:latin typeface="Merriweather"/>
                <a:ea typeface="Merriweather"/>
                <a:cs typeface="Merriweather"/>
                <a:sym typeface="Merriweather"/>
              </a:rPr>
              <a:t>P-values greater than 0.05 considered insignificant.</a:t>
            </a:r>
            <a:endParaRPr sz="19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latin typeface="Merriweather"/>
                <a:ea typeface="Merriweather"/>
                <a:cs typeface="Merriweather"/>
                <a:sym typeface="Merriweather"/>
              </a:rPr>
              <a:t>Significant, Low Multicollinearity Factors:</a:t>
            </a:r>
            <a:endParaRPr sz="19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5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SzPts val="1900"/>
              <a:buFont typeface="Merriweather"/>
              <a:buChar char="●"/>
            </a:pPr>
            <a:r>
              <a:rPr lang="en" sz="1900">
                <a:latin typeface="Merriweather"/>
                <a:ea typeface="Merriweather"/>
                <a:cs typeface="Merriweather"/>
                <a:sym typeface="Merriweather"/>
              </a:rPr>
              <a:t>FDI</a:t>
            </a:r>
            <a:endParaRPr sz="19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Merriweather"/>
              <a:buChar char="●"/>
            </a:pPr>
            <a:r>
              <a:rPr lang="en" sz="1900">
                <a:latin typeface="Merriweather"/>
                <a:ea typeface="Merriweather"/>
                <a:cs typeface="Merriweather"/>
                <a:sym typeface="Merriweather"/>
              </a:rPr>
              <a:t>Tax to GDP</a:t>
            </a:r>
            <a:endParaRPr sz="19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Merriweather"/>
              <a:buChar char="●"/>
            </a:pPr>
            <a:r>
              <a:rPr lang="en" sz="1900">
                <a:latin typeface="Merriweather"/>
                <a:ea typeface="Merriweather"/>
                <a:cs typeface="Merriweather"/>
                <a:sym typeface="Merriweather"/>
              </a:rPr>
              <a:t>Population Growth</a:t>
            </a:r>
            <a:endParaRPr sz="19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Merriweather"/>
              <a:buChar char="●"/>
            </a:pPr>
            <a:r>
              <a:rPr lang="en" sz="1900">
                <a:latin typeface="Merriweather"/>
                <a:ea typeface="Merriweather"/>
                <a:cs typeface="Merriweather"/>
                <a:sym typeface="Merriweather"/>
              </a:rPr>
              <a:t>Labor Force Participation</a:t>
            </a:r>
            <a:endParaRPr sz="19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329" name="Google Shape;329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8425" y="3426155"/>
            <a:ext cx="4074025" cy="131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3"/>
          <p:cNvSpPr txBox="1"/>
          <p:nvPr>
            <p:ph type="title"/>
          </p:nvPr>
        </p:nvSpPr>
        <p:spPr>
          <a:xfrm>
            <a:off x="311700" y="445025"/>
            <a:ext cx="642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Results: Without Year Dummy</a:t>
            </a:r>
            <a:endParaRPr/>
          </a:p>
        </p:txBody>
      </p:sp>
      <p:sp>
        <p:nvSpPr>
          <p:cNvPr id="335" name="Google Shape;335;p53"/>
          <p:cNvSpPr txBox="1"/>
          <p:nvPr>
            <p:ph idx="1" type="body"/>
          </p:nvPr>
        </p:nvSpPr>
        <p:spPr>
          <a:xfrm>
            <a:off x="675275" y="1462575"/>
            <a:ext cx="474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erriweather"/>
                <a:ea typeface="Merriweather"/>
                <a:cs typeface="Merriweather"/>
                <a:sym typeface="Merriweather"/>
              </a:rPr>
              <a:t>Adjusted R-Squared</a:t>
            </a:r>
            <a:r>
              <a:rPr b="1" lang="en" sz="1700"/>
              <a:t>: </a:t>
            </a:r>
            <a:r>
              <a:rPr lang="en" sz="1700">
                <a:latin typeface="Merriweather"/>
                <a:ea typeface="Merriweather"/>
                <a:cs typeface="Merriweather"/>
                <a:sym typeface="Merriweather"/>
              </a:rPr>
              <a:t>0.932 (Very good!)</a:t>
            </a:r>
            <a:endParaRPr sz="17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latin typeface="Merriweather"/>
                <a:ea typeface="Merriweather"/>
                <a:cs typeface="Merriweather"/>
                <a:sym typeface="Merriweather"/>
              </a:rPr>
              <a:t>Compared to USA (Dummy)</a:t>
            </a:r>
            <a:endParaRPr sz="17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SzPts val="1700"/>
              <a:buFont typeface="Merriweather"/>
              <a:buChar char="●"/>
            </a:pPr>
            <a:r>
              <a:rPr lang="en" sz="1700">
                <a:latin typeface="Merriweather"/>
                <a:ea typeface="Merriweather"/>
                <a:cs typeface="Merriweather"/>
                <a:sym typeface="Merriweather"/>
              </a:rPr>
              <a:t>Japan: 0.0709</a:t>
            </a:r>
            <a:endParaRPr sz="17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Merriweather"/>
              <a:buChar char="●"/>
            </a:pPr>
            <a:r>
              <a:rPr lang="en" sz="1700">
                <a:latin typeface="Merriweather"/>
                <a:ea typeface="Merriweather"/>
                <a:cs typeface="Merriweather"/>
                <a:sym typeface="Merriweather"/>
              </a:rPr>
              <a:t>Luxembourg -0.418</a:t>
            </a:r>
            <a:endParaRPr sz="17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latin typeface="Merriweather"/>
                <a:ea typeface="Merriweather"/>
                <a:cs typeface="Merriweather"/>
                <a:sym typeface="Merriweather"/>
              </a:rPr>
              <a:t>Costa Rica, Greece, Ireland, Iceland not</a:t>
            </a:r>
            <a:endParaRPr sz="17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latin typeface="Merriweather"/>
                <a:ea typeface="Merriweather"/>
                <a:cs typeface="Merriweather"/>
                <a:sym typeface="Merriweather"/>
              </a:rPr>
              <a:t>significant (will be dropped anyways </a:t>
            </a:r>
            <a:endParaRPr sz="17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00">
                <a:latin typeface="Merriweather"/>
                <a:ea typeface="Merriweather"/>
                <a:cs typeface="Merriweather"/>
                <a:sym typeface="Merriweather"/>
              </a:rPr>
              <a:t>due to WUI)</a:t>
            </a:r>
            <a:endParaRPr sz="17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336" name="Google Shape;336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1850" y="2089475"/>
            <a:ext cx="4149600" cy="2974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02675" y="103625"/>
            <a:ext cx="2418775" cy="188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4"/>
          <p:cNvSpPr txBox="1"/>
          <p:nvPr>
            <p:ph type="title"/>
          </p:nvPr>
        </p:nvSpPr>
        <p:spPr>
          <a:xfrm>
            <a:off x="311700" y="445025"/>
            <a:ext cx="604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ct val="31884"/>
              <a:buFont typeface="Arial"/>
              <a:buNone/>
            </a:pPr>
            <a:r>
              <a:rPr lang="en"/>
              <a:t>Results: Covid (2021-2021) Dummy</a:t>
            </a:r>
            <a:endParaRPr/>
          </a:p>
        </p:txBody>
      </p:sp>
      <p:sp>
        <p:nvSpPr>
          <p:cNvPr id="343" name="Google Shape;343;p54"/>
          <p:cNvSpPr txBox="1"/>
          <p:nvPr>
            <p:ph idx="1" type="body"/>
          </p:nvPr>
        </p:nvSpPr>
        <p:spPr>
          <a:xfrm>
            <a:off x="311700" y="1355650"/>
            <a:ext cx="4513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erriweather"/>
                <a:ea typeface="Merriweather"/>
                <a:cs typeface="Merriweather"/>
                <a:sym typeface="Merriweather"/>
              </a:rPr>
              <a:t>Adjusted R-Squared</a:t>
            </a:r>
            <a:r>
              <a:rPr b="1" lang="en" sz="1700"/>
              <a:t>: </a:t>
            </a:r>
            <a:r>
              <a:rPr lang="en" sz="1700">
                <a:latin typeface="Merriweather"/>
                <a:ea typeface="Merriweather"/>
                <a:cs typeface="Merriweather"/>
                <a:sym typeface="Merriweather"/>
              </a:rPr>
              <a:t>0.936 (Very good!)</a:t>
            </a:r>
            <a:endParaRPr sz="17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latin typeface="Merriweather"/>
                <a:ea typeface="Merriweather"/>
                <a:cs typeface="Merriweather"/>
                <a:sym typeface="Merriweather"/>
              </a:rPr>
              <a:t>Covid Dummy (0.17, p-val 0.00009)</a:t>
            </a:r>
            <a:endParaRPr sz="17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SzPts val="1700"/>
              <a:buFont typeface="Merriweather"/>
              <a:buChar char="●"/>
            </a:pPr>
            <a:r>
              <a:rPr lang="en" sz="1700">
                <a:latin typeface="Merriweather"/>
                <a:ea typeface="Merriweather"/>
                <a:cs typeface="Merriweather"/>
                <a:sym typeface="Merriweather"/>
              </a:rPr>
              <a:t>Debt levels 17% higher in Covid years</a:t>
            </a:r>
            <a:endParaRPr sz="17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700">
                <a:latin typeface="Merriweather"/>
                <a:ea typeface="Merriweather"/>
                <a:cs typeface="Merriweather"/>
                <a:sym typeface="Merriweather"/>
              </a:rPr>
              <a:t>Compared to USA (Dummy)</a:t>
            </a:r>
            <a:endParaRPr sz="17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SzPts val="1700"/>
              <a:buFont typeface="Merriweather"/>
              <a:buChar char="●"/>
            </a:pPr>
            <a:r>
              <a:rPr lang="en" sz="1700">
                <a:latin typeface="Merriweather"/>
                <a:ea typeface="Merriweather"/>
                <a:cs typeface="Merriweather"/>
                <a:sym typeface="Merriweather"/>
              </a:rPr>
              <a:t>Japan: 0.08</a:t>
            </a:r>
            <a:endParaRPr sz="17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Merriweather"/>
              <a:buChar char="●"/>
            </a:pPr>
            <a:r>
              <a:rPr lang="en" sz="1700">
                <a:latin typeface="Merriweather"/>
                <a:ea typeface="Merriweather"/>
                <a:cs typeface="Merriweather"/>
                <a:sym typeface="Merriweather"/>
              </a:rPr>
              <a:t>Luxembourg -0.40</a:t>
            </a:r>
            <a:endParaRPr sz="17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700">
                <a:latin typeface="Merriweather"/>
                <a:ea typeface="Merriweather"/>
                <a:cs typeface="Merriweather"/>
                <a:sym typeface="Merriweather"/>
              </a:rPr>
              <a:t>Costa Rica, Greece, Ireland, Iceland not significant (will be dropped anyways due to WUI)</a:t>
            </a:r>
            <a:endParaRPr/>
          </a:p>
        </p:txBody>
      </p:sp>
      <p:pic>
        <p:nvPicPr>
          <p:cNvPr id="344" name="Google Shape;344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3000" y="110925"/>
            <a:ext cx="2568725" cy="200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62701" y="2274450"/>
            <a:ext cx="3466976" cy="2758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ct val="31884"/>
              <a:buFont typeface="Arial"/>
              <a:buNone/>
            </a:pPr>
            <a:r>
              <a:rPr lang="en"/>
              <a:t>Results: Eurozone (2010-2012) Dummy</a:t>
            </a:r>
            <a:endParaRPr/>
          </a:p>
        </p:txBody>
      </p:sp>
      <p:sp>
        <p:nvSpPr>
          <p:cNvPr id="351" name="Google Shape;351;p55"/>
          <p:cNvSpPr txBox="1"/>
          <p:nvPr>
            <p:ph idx="1" type="body"/>
          </p:nvPr>
        </p:nvSpPr>
        <p:spPr>
          <a:xfrm>
            <a:off x="311700" y="1152475"/>
            <a:ext cx="4855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700">
                <a:latin typeface="Merriweather"/>
                <a:ea typeface="Merriweather"/>
                <a:cs typeface="Merriweather"/>
                <a:sym typeface="Merriweather"/>
              </a:rPr>
              <a:t>Adjusted R-Squared</a:t>
            </a:r>
            <a:r>
              <a:rPr b="1" lang="en" sz="1700"/>
              <a:t>: </a:t>
            </a:r>
            <a:r>
              <a:rPr lang="en" sz="1700">
                <a:latin typeface="Merriweather"/>
                <a:ea typeface="Merriweather"/>
                <a:cs typeface="Merriweather"/>
                <a:sym typeface="Merriweather"/>
              </a:rPr>
              <a:t>0.939 (Very good!)</a:t>
            </a:r>
            <a:endParaRPr sz="17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700">
                <a:latin typeface="Merriweather"/>
                <a:ea typeface="Merriweather"/>
                <a:cs typeface="Merriweather"/>
                <a:sym typeface="Merriweather"/>
              </a:rPr>
              <a:t>Eurozone Dummy (-0.195, p-val 0.00008)</a:t>
            </a:r>
            <a:endParaRPr sz="17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SzPts val="1700"/>
              <a:buFont typeface="Merriweather"/>
              <a:buChar char="●"/>
            </a:pPr>
            <a:r>
              <a:rPr lang="en" sz="1700">
                <a:latin typeface="Merriweather"/>
                <a:ea typeface="Merriweather"/>
                <a:cs typeface="Merriweather"/>
                <a:sym typeface="Merriweather"/>
              </a:rPr>
              <a:t>Debt levels 19% lower in Eurozone Years (Unexpected)</a:t>
            </a:r>
            <a:endParaRPr sz="17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Font typeface="Merriweather"/>
              <a:buChar char="○"/>
            </a:pPr>
            <a:r>
              <a:rPr lang="en" sz="1700">
                <a:latin typeface="Merriweather"/>
                <a:ea typeface="Merriweather"/>
                <a:cs typeface="Merriweather"/>
                <a:sym typeface="Merriweather"/>
              </a:rPr>
              <a:t>Eurozone countries only account for less than a third of OECD Countries</a:t>
            </a:r>
            <a:endParaRPr sz="17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Font typeface="Merriweather"/>
              <a:buChar char="○"/>
            </a:pPr>
            <a:r>
              <a:rPr lang="en" sz="1700">
                <a:latin typeface="Merriweather"/>
                <a:ea typeface="Merriweather"/>
                <a:cs typeface="Merriweather"/>
                <a:sym typeface="Merriweather"/>
              </a:rPr>
              <a:t>Crisis started in 2009, 2010-2012 could represent a “recovery period”</a:t>
            </a:r>
            <a:endParaRPr sz="17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52" name="Google Shape;352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5527" y="1152475"/>
            <a:ext cx="3743975" cy="2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Recommendations and Conclusions</a:t>
            </a:r>
            <a:endParaRPr/>
          </a:p>
        </p:txBody>
      </p:sp>
      <p:sp>
        <p:nvSpPr>
          <p:cNvPr id="358" name="Google Shape;358;p56"/>
          <p:cNvSpPr txBox="1"/>
          <p:nvPr>
            <p:ph idx="1" type="body"/>
          </p:nvPr>
        </p:nvSpPr>
        <p:spPr>
          <a:xfrm>
            <a:off x="247275" y="1066575"/>
            <a:ext cx="8520600" cy="39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erriweather"/>
                <a:ea typeface="Merriweather"/>
                <a:cs typeface="Merriweather"/>
                <a:sym typeface="Merriweather"/>
              </a:rPr>
              <a:t>Countries that have high coefficients compared to USA </a:t>
            </a:r>
            <a:r>
              <a:rPr lang="en" sz="1900">
                <a:latin typeface="Merriweather"/>
                <a:ea typeface="Merriweather"/>
                <a:cs typeface="Merriweather"/>
                <a:sym typeface="Merriweather"/>
              </a:rPr>
              <a:t>throughout</a:t>
            </a:r>
            <a:r>
              <a:rPr lang="en" sz="1900">
                <a:latin typeface="Merriweather"/>
                <a:ea typeface="Merriweather"/>
                <a:cs typeface="Merriweather"/>
                <a:sym typeface="Merriweather"/>
              </a:rPr>
              <a:t> all periods:</a:t>
            </a:r>
            <a:endParaRPr sz="19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SzPts val="1900"/>
              <a:buFont typeface="Merriweather"/>
              <a:buAutoNum type="arabicPeriod"/>
            </a:pPr>
            <a:r>
              <a:rPr lang="en" sz="1900">
                <a:latin typeface="Merriweather"/>
                <a:ea typeface="Merriweather"/>
                <a:cs typeface="Merriweather"/>
                <a:sym typeface="Merriweather"/>
              </a:rPr>
              <a:t>Estonia</a:t>
            </a:r>
            <a:endParaRPr sz="19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Merriweather"/>
              <a:buAutoNum type="arabicPeriod"/>
            </a:pPr>
            <a:r>
              <a:rPr lang="en" sz="1900">
                <a:latin typeface="Merriweather"/>
                <a:ea typeface="Merriweather"/>
                <a:cs typeface="Merriweather"/>
                <a:sym typeface="Merriweather"/>
              </a:rPr>
              <a:t>Luxembourg</a:t>
            </a:r>
            <a:endParaRPr sz="19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Merriweather"/>
              <a:buAutoNum type="arabicPeriod"/>
            </a:pPr>
            <a:r>
              <a:rPr lang="en" sz="1900">
                <a:latin typeface="Merriweather"/>
                <a:ea typeface="Merriweather"/>
                <a:cs typeface="Merriweather"/>
                <a:sym typeface="Merriweather"/>
              </a:rPr>
              <a:t>Norway</a:t>
            </a:r>
            <a:endParaRPr sz="19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Merriweather"/>
              <a:buAutoNum type="arabicPeriod"/>
            </a:pPr>
            <a:r>
              <a:rPr lang="en" sz="1900">
                <a:latin typeface="Merriweather"/>
                <a:ea typeface="Merriweather"/>
                <a:cs typeface="Merriweather"/>
                <a:sym typeface="Merriweather"/>
              </a:rPr>
              <a:t>Denmark</a:t>
            </a:r>
            <a:endParaRPr sz="1900"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Steps:</a:t>
            </a:r>
            <a:endParaRPr/>
          </a:p>
        </p:txBody>
      </p:sp>
      <p:sp>
        <p:nvSpPr>
          <p:cNvPr id="364" name="Google Shape;364;p5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ct val="55000"/>
              <a:buFont typeface="Arial"/>
              <a:buNone/>
            </a:pPr>
            <a:r>
              <a:rPr b="1" lang="en" sz="2000">
                <a:solidFill>
                  <a:schemeClr val="hlink"/>
                </a:solidFill>
                <a:latin typeface="Merriweather"/>
                <a:ea typeface="Merriweather"/>
                <a:cs typeface="Merriweather"/>
                <a:sym typeface="Merriweather"/>
              </a:rPr>
              <a:t>Objective</a:t>
            </a:r>
            <a:r>
              <a:rPr lang="en" sz="2000">
                <a:solidFill>
                  <a:schemeClr val="hlink"/>
                </a:solidFill>
                <a:latin typeface="Merriweather"/>
                <a:ea typeface="Merriweather"/>
                <a:cs typeface="Merriweather"/>
                <a:sym typeface="Merriweather"/>
              </a:rPr>
              <a:t>:</a:t>
            </a:r>
            <a:endParaRPr sz="2000">
              <a:solidFill>
                <a:schemeClr val="hlink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6075" lvl="0" marL="457200" rtl="0" algn="l"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Merriweather"/>
              <a:buChar char="●"/>
            </a:pPr>
            <a:r>
              <a:rPr lang="en" sz="2000">
                <a:solidFill>
                  <a:schemeClr val="hlink"/>
                </a:solidFill>
                <a:latin typeface="Merriweather"/>
                <a:ea typeface="Merriweather"/>
                <a:cs typeface="Merriweather"/>
                <a:sym typeface="Merriweather"/>
              </a:rPr>
              <a:t>Implement use of the WUI to eliminate countries.</a:t>
            </a:r>
            <a:endParaRPr sz="2000">
              <a:solidFill>
                <a:schemeClr val="hlink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Merriweather"/>
              <a:buChar char="●"/>
            </a:pPr>
            <a:r>
              <a:rPr lang="en" sz="2000">
                <a:solidFill>
                  <a:schemeClr val="hlink"/>
                </a:solidFill>
                <a:latin typeface="Merriweather"/>
                <a:ea typeface="Merriweather"/>
                <a:cs typeface="Merriweather"/>
                <a:sym typeface="Merriweather"/>
              </a:rPr>
              <a:t>Use time series models to extend OLS across Normal (2014–2019), COVID (2020–2021), and Crisis Recovery (2010–2012) periods.</a:t>
            </a:r>
            <a:endParaRPr sz="2000">
              <a:solidFill>
                <a:schemeClr val="hlink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Merriweather"/>
              <a:buChar char="●"/>
            </a:pPr>
            <a:r>
              <a:rPr lang="en" sz="2000">
                <a:solidFill>
                  <a:schemeClr val="hlink"/>
                </a:solidFill>
                <a:latin typeface="Merriweather"/>
                <a:ea typeface="Merriweather"/>
                <a:cs typeface="Merriweather"/>
                <a:sym typeface="Merriweather"/>
              </a:rPr>
              <a:t>Forecast debt to 2030, leveraging significant predictors (FDI, Tax to GDP) and country dummies (USA baseline).</a:t>
            </a:r>
            <a:endParaRPr sz="2000">
              <a:solidFill>
                <a:schemeClr val="hlink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Merriweather"/>
              <a:buChar char="●"/>
            </a:pPr>
            <a:r>
              <a:rPr lang="en" sz="2000">
                <a:solidFill>
                  <a:schemeClr val="hlink"/>
                </a:solidFill>
                <a:latin typeface="Merriweather"/>
                <a:ea typeface="Merriweather"/>
                <a:cs typeface="Merriweather"/>
                <a:sym typeface="Merriweather"/>
              </a:rPr>
              <a:t>Use K-means clustering to separate countries into groups to recommend.</a:t>
            </a:r>
            <a:endParaRPr sz="2000">
              <a:solidFill>
                <a:schemeClr val="hlink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Merriweather"/>
              <a:buChar char="●"/>
            </a:pPr>
            <a:r>
              <a:rPr lang="en" sz="2000">
                <a:solidFill>
                  <a:schemeClr val="hlink"/>
                </a:solidFill>
                <a:latin typeface="Merriweather"/>
                <a:ea typeface="Merriweather"/>
                <a:cs typeface="Merriweather"/>
                <a:sym typeface="Merriweather"/>
              </a:rPr>
              <a:t>Create more visualizations.</a:t>
            </a:r>
            <a:endParaRPr sz="2000">
              <a:solidFill>
                <a:schemeClr val="hlink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370" name="Google Shape;370;p58"/>
          <p:cNvSpPr txBox="1"/>
          <p:nvPr>
            <p:ph idx="1" type="body"/>
          </p:nvPr>
        </p:nvSpPr>
        <p:spPr>
          <a:xfrm>
            <a:off x="247275" y="1066575"/>
            <a:ext cx="8520600" cy="39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Data Sources</a:t>
            </a:r>
            <a:endParaRPr sz="24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400" u="sng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Research Article</a:t>
            </a:r>
            <a:endParaRPr sz="24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cience Presentation">
  <a:themeElements>
    <a:clrScheme name="Simple Light">
      <a:dk1>
        <a:srgbClr val="005088"/>
      </a:dk1>
      <a:lt1>
        <a:srgbClr val="F3F0DF"/>
      </a:lt1>
      <a:dk2>
        <a:srgbClr val="121212"/>
      </a:dk2>
      <a:lt2>
        <a:srgbClr val="D0E0E3"/>
      </a:lt2>
      <a:accent1>
        <a:srgbClr val="11CAA0"/>
      </a:accent1>
      <a:accent2>
        <a:srgbClr val="6D6D6B"/>
      </a:accent2>
      <a:accent3>
        <a:srgbClr val="FFFFFF"/>
      </a:accent3>
      <a:accent4>
        <a:srgbClr val="656839"/>
      </a:accent4>
      <a:accent5>
        <a:srgbClr val="774936"/>
      </a:accent5>
      <a:accent6>
        <a:srgbClr val="C492B1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